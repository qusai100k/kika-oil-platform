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d909181da64a54" /><Relationship Type="http://schemas.openxmlformats.org/officeDocument/2006/relationships/extended-properties" Target="/docProps/app.xml" Id="R2b500b575c6d46fe" /><Relationship Type="http://schemas.openxmlformats.org/officeDocument/2006/relationships/officeDocument" Target="/ppt/presentation.xml" Id="Red336b486dd341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544e30765148a2"/>
  </p:sldMasterIdLst>
  <p:notesMasterIdLst>
    <p:notesMasterId xmlns:r="http://schemas.openxmlformats.org/officeDocument/2006/relationships" r:id="Re58a90d284644a1d"/>
  </p:notesMasterIdLst>
  <p:sldIdLst>
    <p:sldId xmlns:r="http://schemas.openxmlformats.org/officeDocument/2006/relationships" id="256" r:id="R8061036a1d35498c"/>
    <p:sldId xmlns:r="http://schemas.openxmlformats.org/officeDocument/2006/relationships" id="257" r:id="R31069525bfc04c9f"/>
    <p:sldId xmlns:r="http://schemas.openxmlformats.org/officeDocument/2006/relationships" id="258" r:id="R0f776062d46244b2"/>
    <p:sldId xmlns:r="http://schemas.openxmlformats.org/officeDocument/2006/relationships" id="259" r:id="R279c6950ae4b4930"/>
    <p:sldId xmlns:r="http://schemas.openxmlformats.org/officeDocument/2006/relationships" id="260" r:id="Rcca62956066049f6"/>
    <p:sldId xmlns:r="http://schemas.openxmlformats.org/officeDocument/2006/relationships" id="261" r:id="R1406698f797745d3"/>
    <p:sldId xmlns:r="http://schemas.openxmlformats.org/officeDocument/2006/relationships" id="262" r:id="R23ddac0cb0754a81"/>
    <p:sldId xmlns:r="http://schemas.openxmlformats.org/officeDocument/2006/relationships" id="263" r:id="R34e95001504647a7"/>
    <p:sldId xmlns:r="http://schemas.openxmlformats.org/officeDocument/2006/relationships" id="264" r:id="R72457f359dbf4b38"/>
    <p:sldId xmlns:r="http://schemas.openxmlformats.org/officeDocument/2006/relationships" id="265" r:id="Rb73280fa48a443f2"/>
    <p:sldId xmlns:r="http://schemas.openxmlformats.org/officeDocument/2006/relationships" id="266" r:id="R1c1e47c50e6f4c08"/>
    <p:sldId xmlns:r="http://schemas.openxmlformats.org/officeDocument/2006/relationships" id="267" r:id="Rb2edfb73f1074d9c"/>
    <p:sldId xmlns:r="http://schemas.openxmlformats.org/officeDocument/2006/relationships" id="268" r:id="Rfa6a3a05a20445bd"/>
    <p:sldId xmlns:r="http://schemas.openxmlformats.org/officeDocument/2006/relationships" id="269" r:id="R498d8bafa34f46e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8e3a7ab7c942b9" /><Relationship Type="http://schemas.openxmlformats.org/officeDocument/2006/relationships/slideMaster" Target="/ppt/slideMasters/slideMaster1.xml" Id="Rb2544e30765148a2" /><Relationship Type="http://schemas.openxmlformats.org/officeDocument/2006/relationships/notesMaster" Target="/ppt/notesMasters/notesMaster1.xml" Id="Re58a90d284644a1d" /><Relationship Type="http://schemas.openxmlformats.org/officeDocument/2006/relationships/presProps" Target="/ppt/presProps.xml" Id="R71f34ebcaed04b07" /><Relationship Type="http://schemas.openxmlformats.org/officeDocument/2006/relationships/tableStyles" Target="/ppt/tableStyles.xml" Id="R2e51b46829a24e6b" /><Relationship Type="http://schemas.openxmlformats.org/officeDocument/2006/relationships/slide" Target="/ppt/slides/slide1.xml" Id="R8061036a1d35498c" /><Relationship Type="http://schemas.openxmlformats.org/officeDocument/2006/relationships/slide" Target="/ppt/slides/slide2.xml" Id="R31069525bfc04c9f" /><Relationship Type="http://schemas.openxmlformats.org/officeDocument/2006/relationships/slide" Target="/ppt/slides/slide3.xml" Id="R0f776062d46244b2" /><Relationship Type="http://schemas.openxmlformats.org/officeDocument/2006/relationships/slide" Target="/ppt/slides/slide4.xml" Id="R279c6950ae4b4930" /><Relationship Type="http://schemas.openxmlformats.org/officeDocument/2006/relationships/slide" Target="/ppt/slides/slide5.xml" Id="Rcca62956066049f6" /><Relationship Type="http://schemas.openxmlformats.org/officeDocument/2006/relationships/slide" Target="/ppt/slides/slide6.xml" Id="R1406698f797745d3" /><Relationship Type="http://schemas.openxmlformats.org/officeDocument/2006/relationships/slide" Target="/ppt/slides/slide7.xml" Id="R23ddac0cb0754a81" /><Relationship Type="http://schemas.openxmlformats.org/officeDocument/2006/relationships/slide" Target="/ppt/slides/slide8.xml" Id="R34e95001504647a7" /><Relationship Type="http://schemas.openxmlformats.org/officeDocument/2006/relationships/slide" Target="/ppt/slides/slide9.xml" Id="R72457f359dbf4b38" /><Relationship Type="http://schemas.openxmlformats.org/officeDocument/2006/relationships/slide" Target="/ppt/slides/slide10.xml" Id="Rb73280fa48a443f2" /><Relationship Type="http://schemas.openxmlformats.org/officeDocument/2006/relationships/slide" Target="/ppt/slides/slide11.xml" Id="R1c1e47c50e6f4c08" /><Relationship Type="http://schemas.openxmlformats.org/officeDocument/2006/relationships/slide" Target="/ppt/slides/slide12.xml" Id="Rb2edfb73f1074d9c" /><Relationship Type="http://schemas.openxmlformats.org/officeDocument/2006/relationships/slide" Target="/ppt/slides/slide13.xml" Id="Rfa6a3a05a20445bd" /><Relationship Type="http://schemas.openxmlformats.org/officeDocument/2006/relationships/slide" Target="/ppt/slides/slide14.xml" Id="R498d8bafa34f46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6012e2ee39b4f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ac4f1e317445c6" /><Relationship Type="http://schemas.openxmlformats.org/officeDocument/2006/relationships/notesMaster" Target="/ppt/notesMasters/notesMaster1.xml" Id="Rf8dec508043346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bb557c6ce94fed" /><Relationship Type="http://schemas.openxmlformats.org/officeDocument/2006/relationships/notesMaster" Target="/ppt/notesMasters/notesMaster1.xml" Id="R6101b3f2896740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142d724e4b42d4" /><Relationship Type="http://schemas.openxmlformats.org/officeDocument/2006/relationships/notesMaster" Target="/ppt/notesMasters/notesMaster1.xml" Id="R16b5a17c459849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3ec0f9c02d94c92" /><Relationship Type="http://schemas.openxmlformats.org/officeDocument/2006/relationships/notesMaster" Target="/ppt/notesMasters/notesMaster1.xml" Id="R9b84d199a79448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09c40da5ddf4272" /><Relationship Type="http://schemas.openxmlformats.org/officeDocument/2006/relationships/notesMaster" Target="/ppt/notesMasters/notesMaster1.xml" Id="Rf36c6bf78d2f465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f67a46968e44ee" /><Relationship Type="http://schemas.openxmlformats.org/officeDocument/2006/relationships/notesMaster" Target="/ppt/notesMasters/notesMaster1.xml" Id="Ra1899237d2e042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b40be41b6c4b0f" /><Relationship Type="http://schemas.openxmlformats.org/officeDocument/2006/relationships/notesMaster" Target="/ppt/notesMasters/notesMaster1.xml" Id="R61f0dc42441a44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eea442ecda4155" /><Relationship Type="http://schemas.openxmlformats.org/officeDocument/2006/relationships/notesMaster" Target="/ppt/notesMasters/notesMaster1.xml" Id="R688e4cd7399f456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8164bab5ba4e04" /><Relationship Type="http://schemas.openxmlformats.org/officeDocument/2006/relationships/notesMaster" Target="/ppt/notesMasters/notesMaster1.xml" Id="R1018fb92de224cf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7f837b27464fcf" /><Relationship Type="http://schemas.openxmlformats.org/officeDocument/2006/relationships/notesMaster" Target="/ppt/notesMasters/notesMaster1.xml" Id="R1c2ba52b941740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4479f4ac999404a" /><Relationship Type="http://schemas.openxmlformats.org/officeDocument/2006/relationships/notesMaster" Target="/ppt/notesMasters/notesMaster1.xml" Id="Rfdb2c8dc595d42c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de547439944842" /><Relationship Type="http://schemas.openxmlformats.org/officeDocument/2006/relationships/notesMaster" Target="/ppt/notesMasters/notesMaster1.xml" Id="R928365c28e5745c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55b3268c20f4fbd" /><Relationship Type="http://schemas.openxmlformats.org/officeDocument/2006/relationships/notesMaster" Target="/ppt/notesMasters/notesMaster1.xml" Id="R6ec3771d3bb4463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e84f3e019884692" /><Relationship Type="http://schemas.openxmlformats.org/officeDocument/2006/relationships/notesMaster" Target="/ppt/notesMasters/notesMaster1.xml" Id="R33e66748d0704d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04aab496e749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73154df2c64663" /><Relationship Type="http://schemas.openxmlformats.org/officeDocument/2006/relationships/slideLayout" Target="/ppt/slideLayouts/slideLayout1.xml" Id="Ra8681793b82247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681793b82247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1d92e7b1b4924" /><Relationship Type="http://schemas.openxmlformats.org/officeDocument/2006/relationships/image" Target="/ppt/media/image.bin" Id="Rcd17551548224bf6" /><Relationship Type="http://schemas.openxmlformats.org/officeDocument/2006/relationships/notesSlide" Target="/ppt/notesSlides/notesSlide1.xml" Id="R6077d4c64c4149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f471f728974f49" /><Relationship Type="http://schemas.openxmlformats.org/officeDocument/2006/relationships/notesSlide" Target="/ppt/notesSlides/notesSlide2.xml" Id="R9a1f43d71e2b46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1cf047dff45aa" /><Relationship Type="http://schemas.openxmlformats.org/officeDocument/2006/relationships/notesSlide" Target="/ppt/notesSlides/notesSlide3.xml" Id="Re6638898642e40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134d3de3be46fd" /><Relationship Type="http://schemas.openxmlformats.org/officeDocument/2006/relationships/notesSlide" Target="/ppt/notesSlides/notesSlide4.xml" Id="R8807eac829454b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ff3add48e8430d" /><Relationship Type="http://schemas.openxmlformats.org/officeDocument/2006/relationships/notesSlide" Target="/ppt/notesSlides/notesSlide5.xml" Id="R8b22c703b8dc4d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7d50ced744585" /><Relationship Type="http://schemas.openxmlformats.org/officeDocument/2006/relationships/image" Target="/ppt/media/image.jpeg" Id="R8e983e19b21a4dcd" /><Relationship Type="http://schemas.openxmlformats.org/officeDocument/2006/relationships/notesSlide" Target="/ppt/notesSlides/notesSlide6.xml" Id="R9c7a15681c354a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5be01bee84429" /><Relationship Type="http://schemas.openxmlformats.org/officeDocument/2006/relationships/image" Target="/ppt/media/image2.jpeg" Id="R2cb6d11056114a46" /><Relationship Type="http://schemas.openxmlformats.org/officeDocument/2006/relationships/notesSlide" Target="/ppt/notesSlides/notesSlide7.xml" Id="R067c422b0ce744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7a03ab49ce46cc" /><Relationship Type="http://schemas.openxmlformats.org/officeDocument/2006/relationships/notesSlide" Target="/ppt/notesSlides/notesSlide8.xml" Id="R611120cc226a4f4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42cfbdd6314dd8" /><Relationship Type="http://schemas.openxmlformats.org/officeDocument/2006/relationships/notesSlide" Target="/ppt/notesSlides/notesSlide9.xml" Id="Rdf8778dbdb95439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dc63ee4be4329" /><Relationship Type="http://schemas.openxmlformats.org/officeDocument/2006/relationships/notesSlide" Target="/ppt/notesSlides/notesSlide10.xml" Id="Rc575697cd3c8450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a64f607f64936" /><Relationship Type="http://schemas.openxmlformats.org/officeDocument/2006/relationships/notesSlide" Target="/ppt/notesSlides/notesSlide11.xml" Id="Rfe47d564836f43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cd73a79b44329" /><Relationship Type="http://schemas.openxmlformats.org/officeDocument/2006/relationships/image" Target="/ppt/media/image3.jpeg" Id="Re72782cbe4b74e09" /><Relationship Type="http://schemas.openxmlformats.org/officeDocument/2006/relationships/notesSlide" Target="/ppt/notesSlides/notesSlide12.xml" Id="Re4912f02fee34e9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ddd9f69844356" /><Relationship Type="http://schemas.openxmlformats.org/officeDocument/2006/relationships/notesSlide" Target="/ppt/notesSlides/notesSlide13.xml" Id="Rc02313bccb714b2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00d6a3fde44681" /><Relationship Type="http://schemas.openxmlformats.org/officeDocument/2006/relationships/notesSlide" Target="/ppt/notesSlides/notesSlide14.xml" Id="Rbb15ef498d414d5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631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17551548224bf6"/>
          <a:srcRect xmlns:a="http://schemas.openxmlformats.org/drawingml/2006/main" l="23148" t="0" r="231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oundRect">
            <a:avLst>
              <a:gd name="adj" fmla="val 2759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21C0AE-0B2A-4783-81DA-51269C092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2631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BD8CEF-BB59-492F-AB7F-964AA61B8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D8C5AA"/>
                </a:solidFill>
              </a:defRPr>
            </a:pPr>
            <a:r>
              <a:rPr sz="1275" b="1">
                <a:solidFill>
                  <a:srgbClr val="D8C5AA"/>
                </a:solidFill>
              </a:rPr>
              <a:t>مقترح منصة رقمية متكاملة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C97450-CEA9-4159-9E8D-B9FA7216A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33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منصة</a:t>
            </a:r>
          </a:p>
          <a:p xmlns:a="http://schemas.openxmlformats.org/drawingml/2006/main">
            <a:pPr algn="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زيت كيكا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6FB9F4-8DD3-422A-98D7-A4A4F6A26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D8C5AA"/>
                </a:solidFill>
              </a:defRPr>
            </a:pPr>
            <a:r>
              <a:rPr sz="1800" b="0">
                <a:solidFill>
                  <a:srgbClr val="D8C5AA"/>
                </a:solidFill>
              </a:rPr>
              <a:t>تجربة عناية فاخرة، واضحة، وقابلة للنمو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E6935-F78B-4E14-A46B-82EDA32C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AB5A1"/>
                </a:solidFill>
              </a:defRPr>
            </a:pPr>
            <a:r>
              <a:rPr sz="1050" b="1">
                <a:solidFill>
                  <a:srgbClr val="AAB5A1"/>
                </a:solidFill>
              </a:rPr>
              <a:t>تصور الأعمال • نسخة العرض الخاصة</a:t>
            </a:r>
          </a:p>
        </p:txBody>
      </p:sp>
    </p:spTree>
    <p:extLst>
      <p:ext uri="{BB962C8B-B14F-4D97-AF65-F5344CB8AC3E}">
        <p14:creationId xmlns:p14="http://schemas.microsoft.com/office/powerpoint/2010/main" val="10936236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2CB7D6-1C0C-4E46-A479-D10D4B48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58A52"/>
                </a:solidFill>
              </a:defRPr>
            </a:pPr>
            <a:r>
              <a:rPr sz="1125" b="1">
                <a:solidFill>
                  <a:srgbClr val="B58A52"/>
                </a:solidFill>
              </a:rPr>
              <a:t>الملخص التنفيذي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94697-AA2F-442A-B037-DD06DCE5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263128"/>
                </a:solidFill>
              </a:defRPr>
            </a:pPr>
            <a:r>
              <a:rPr sz="3000" b="1">
                <a:solidFill>
                  <a:srgbClr val="263128"/>
                </a:solidFill>
              </a:rPr>
              <a:t>من المحادثات المتفرقة إلى تجربة موثوقة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BDE0C9-60D1-4DCB-AAA4-4AEAA437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143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025" b="1">
                <a:solidFill>
                  <a:srgbClr val="263128"/>
                </a:solidFill>
              </a:defRPr>
            </a:pPr>
            <a:r>
              <a:rPr sz="2025" b="1">
                <a:solidFill>
                  <a:srgbClr val="263128"/>
                </a:solidFill>
              </a:rPr>
              <a:t>صُممت المنصة لتمنح زيت كيكا حضورًا رقميًا يشرح المنتجات، ينظم رحلة العميل، ويهيئ العمل للنمو دون فقدان اللمسة الإنسانية.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15C712-ABED-4FF9-B7FF-E9919085A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9339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6D756C"/>
                </a:solidFill>
              </a:defRPr>
            </a:pPr>
            <a:r>
              <a:rPr sz="1500" b="0">
                <a:solidFill>
                  <a:srgbClr val="6D756C"/>
                </a:solidFill>
              </a:rPr>
              <a:t>اليوم تبدأ غالبية الرحلات برسالة على إنستغرام. هذا الأسلوب شخصي، لكنه يكرر الأسئلة ويستهلك الوقت ويصعب متابعته مع زيادة الطلب.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64A28C-B5F2-4792-A355-702925B9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81375"/>
            <a:ext cx="4933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B58A52"/>
                </a:solidFill>
              </a:defRPr>
            </a:pPr>
            <a:r>
              <a:rPr sz="1200" b="1">
                <a:solidFill>
                  <a:srgbClr val="B58A52"/>
                </a:solidFill>
              </a:rPr>
              <a:t>الفرصة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8340F-779E-4A6A-89C6-E49E5FCA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33800"/>
            <a:ext cx="4933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63128"/>
                </a:solidFill>
              </a:defRPr>
            </a:pPr>
            <a:r>
              <a:rPr sz="1650" b="0">
                <a:solidFill>
                  <a:srgbClr val="263128"/>
                </a:solidFill>
              </a:rPr>
              <a:t>تحويل المعرفة المتكررة إلى تجربة منظمة: معلومات واضحة أولًا، ثم توجيه واستشارة وشراء ومتابعة في المراحل القادمة.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B5F2F4-3034-4C0F-8B5D-F77CB3AC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596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7BA8B-929D-4713-8FC4-4172181A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57800"/>
            <a:ext cx="1021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النمو الرقمي هنا لا يستبدل العلاقة مع العميل؛ بل يجعلها أكثر جودة في اللحظة التي تحتاج تدخلًا بشريًا.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324F80-4C47-42EF-8595-2CF57F82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756C"/>
                </a:solidFill>
              </a:defRPr>
            </a:pPr>
            <a:r>
              <a:rPr sz="750" b="1">
                <a:solidFill>
                  <a:srgbClr val="6D756C"/>
                </a:solidFill>
              </a:rPr>
              <a:t>KIKA OIL  •  CLIENT PROPOSAL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F4BAA2-9157-4405-9CD3-6B1A5385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D756C"/>
                </a:solidFill>
              </a:defRPr>
            </a:pPr>
            <a:r>
              <a:rPr sz="750" b="1">
                <a:solidFill>
                  <a:srgbClr val="6D756C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391096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5D5AA4-D302-4D62-ABEF-F3A29A81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58A52"/>
                </a:solidFill>
              </a:defRPr>
            </a:pPr>
            <a:r>
              <a:rPr sz="1125" b="1">
                <a:solidFill>
                  <a:srgbClr val="B58A52"/>
                </a:solidFill>
              </a:rPr>
              <a:t>الوضع الحالي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6EA882-656F-4D5D-82AE-C6B9A332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263128"/>
                </a:solidFill>
              </a:defRPr>
            </a:pPr>
            <a:r>
              <a:rPr sz="3000" b="1">
                <a:solidFill>
                  <a:srgbClr val="263128"/>
                </a:solidFill>
              </a:rPr>
              <a:t>العميلة تسأل… والفريق يعيد بناء الإجابة كل مرة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285BF-82ED-4662-9F95-0426E188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58A52"/>
                </a:solidFill>
              </a:defRPr>
            </a:pPr>
            <a:r>
              <a:rPr sz="1275" b="1">
                <a:solidFill>
                  <a:srgbClr val="B58A52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6E50ED-CF7D-47B9-B8F3-03BC06F1C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263128"/>
                </a:solidFill>
              </a:defRPr>
            </a:pPr>
            <a:r>
              <a:rPr sz="1800" b="1">
                <a:solidFill>
                  <a:srgbClr val="263128"/>
                </a:solidFill>
              </a:rPr>
              <a:t>اكتشاف المنتج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5CE2F-931C-4F87-AF3B-1EDE9CF1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756C"/>
                </a:solidFill>
              </a:defRPr>
            </a:pPr>
            <a:r>
              <a:rPr sz="1350" b="0">
                <a:solidFill>
                  <a:srgbClr val="6D756C"/>
                </a:solidFill>
              </a:rPr>
              <a:t>منشور أو قصة على إنستغرام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9A35C-6C75-4F8E-B67B-0726B143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7146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AAB5A1"/>
                </a:solidFill>
              </a:defRPr>
            </a:pPr>
            <a:r>
              <a:rPr sz="2250" b="1">
                <a:solidFill>
                  <a:srgbClr val="AAB5A1"/>
                </a:solidFill>
              </a:rPr>
              <a:t>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46B50-87B4-456C-98F1-CE8F7C842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2479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58A52"/>
                </a:solidFill>
              </a:defRPr>
            </a:pPr>
            <a:r>
              <a:rPr sz="1275" b="1">
                <a:solidFill>
                  <a:srgbClr val="B58A52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7C6DE-681B-4FD8-962F-923B4FD0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241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263128"/>
                </a:solidFill>
              </a:defRPr>
            </a:pPr>
            <a:r>
              <a:rPr sz="1800" b="1">
                <a:solidFill>
                  <a:srgbClr val="263128"/>
                </a:solidFill>
              </a:rPr>
              <a:t>رسالة خاصة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964955-91AE-4D27-857D-906CE8F7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3850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756C"/>
                </a:solidFill>
              </a:defRPr>
            </a:pPr>
            <a:r>
              <a:rPr sz="1350" b="0">
                <a:solidFill>
                  <a:srgbClr val="6D756C"/>
                </a:solidFill>
              </a:rPr>
              <a:t>سؤال عن السعر أو الملاءمة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95FF78-F800-4387-AD16-193DBA14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7146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AAB5A1"/>
                </a:solidFill>
              </a:defRPr>
            </a:pPr>
            <a:r>
              <a:rPr sz="2250" b="1">
                <a:solidFill>
                  <a:srgbClr val="AAB5A1"/>
                </a:solidFill>
              </a:rPr>
              <a:t>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8D7AEB-9E33-4B04-A8AF-8947AAD9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479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58A52"/>
                </a:solidFill>
              </a:defRPr>
            </a:pPr>
            <a:r>
              <a:rPr sz="1275" b="1">
                <a:solidFill>
                  <a:srgbClr val="B58A52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52CF89-30FB-4AA1-8125-2DCF586A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263128"/>
                </a:solidFill>
              </a:defRPr>
            </a:pPr>
            <a:r>
              <a:rPr sz="1800" b="1">
                <a:solidFill>
                  <a:srgbClr val="263128"/>
                </a:solidFill>
              </a:rPr>
              <a:t>شرح يدوي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AA462B-D857-44B4-AFA0-E1A8C392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3850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756C"/>
                </a:solidFill>
              </a:defRPr>
            </a:pPr>
            <a:r>
              <a:rPr sz="1350" b="0">
                <a:solidFill>
                  <a:srgbClr val="6D756C"/>
                </a:solidFill>
              </a:rPr>
              <a:t>إعادة نفس المعلومات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ACBC78-5DEF-48C3-84E1-CFC37572A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146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AAB5A1"/>
                </a:solidFill>
              </a:defRPr>
            </a:pPr>
            <a:r>
              <a:rPr sz="2250" b="1">
                <a:solidFill>
                  <a:srgbClr val="AAB5A1"/>
                </a:solidFill>
              </a:rPr>
              <a:t>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68DCEA-5C63-4EBF-A6CE-FC00E904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479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58A52"/>
                </a:solidFill>
              </a:defRPr>
            </a:pPr>
            <a:r>
              <a:rPr sz="1275" b="1">
                <a:solidFill>
                  <a:srgbClr val="B58A52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FA0843-1A4D-4DA8-A6BD-85B85471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2415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263128"/>
                </a:solidFill>
              </a:defRPr>
            </a:pPr>
            <a:r>
              <a:rPr sz="1800" b="1">
                <a:solidFill>
                  <a:srgbClr val="263128"/>
                </a:solidFill>
              </a:rPr>
              <a:t>متابعة متفرقة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6453E2-5A41-4327-ACAB-6C21A541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38500"/>
            <a:ext cx="228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6D756C"/>
                </a:solidFill>
              </a:defRPr>
            </a:pPr>
            <a:r>
              <a:rPr sz="1350" b="0">
                <a:solidFill>
                  <a:srgbClr val="6D756C"/>
                </a:solidFill>
              </a:rPr>
              <a:t>صعوبة الرجوع للسياق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6B5C9D-CF60-4F29-B615-F3F78A94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596B55"/>
                </a:solidFill>
              </a:defRPr>
            </a:pPr>
            <a:r>
              <a:rPr sz="2025" b="1">
                <a:solidFill>
                  <a:srgbClr val="596B55"/>
                </a:solidFill>
              </a:rPr>
              <a:t>النتيجة: وقت أكبر في الإجابات المتكررة، ووقت أقل في الاستشارة ذات القيمة.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321D35-8574-4B75-8A22-478BF32E8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756C"/>
                </a:solidFill>
              </a:defRPr>
            </a:pPr>
            <a:r>
              <a:rPr sz="750" b="1">
                <a:solidFill>
                  <a:srgbClr val="6D756C"/>
                </a:solidFill>
              </a:rPr>
              <a:t>KIKA OIL  •  CLIENT PROPOSAL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25E0F1-67C9-4D78-B85E-FE389B70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D756C"/>
                </a:solidFill>
              </a:defRPr>
            </a:pPr>
            <a:r>
              <a:rPr sz="750" b="1">
                <a:solidFill>
                  <a:srgbClr val="6D756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490311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C7845E-0429-4A70-8C11-D0A27B03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58A52"/>
                </a:solidFill>
              </a:defRPr>
            </a:pPr>
            <a:r>
              <a:rPr sz="1125" b="1">
                <a:solidFill>
                  <a:srgbClr val="B58A52"/>
                </a:solidFill>
              </a:rPr>
              <a:t>التحديات الحالية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6E8EE-DE4E-4809-89E6-4158BDA0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263128"/>
                </a:solidFill>
              </a:defRPr>
            </a:pPr>
            <a:r>
              <a:rPr sz="3000" b="1">
                <a:solidFill>
                  <a:srgbClr val="263128"/>
                </a:solidFill>
              </a:rPr>
              <a:t>النمو يصبح أصعب عندما تبقى المعرفة داخل الرسائل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4FFE72-A6B0-4375-82DD-614DD424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8A52"/>
                </a:solidFill>
              </a:defRPr>
            </a:pPr>
            <a:r>
              <a:rPr sz="1050" b="1">
                <a:solidFill>
                  <a:srgbClr val="B58A52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FEEAE8-6534-47F3-BE95-2FCFDE7B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263128"/>
                </a:solidFill>
              </a:defRPr>
            </a:pPr>
            <a:r>
              <a:rPr sz="1725" b="1">
                <a:solidFill>
                  <a:srgbClr val="263128"/>
                </a:solidFill>
              </a:rPr>
              <a:t>أسئلة متكررة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ED500-503E-49A5-9024-5201D477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D756C"/>
                </a:solidFill>
              </a:defRPr>
            </a:pPr>
            <a:r>
              <a:rPr sz="1275" b="0">
                <a:solidFill>
                  <a:srgbClr val="6D756C"/>
                </a:solidFill>
              </a:rPr>
              <a:t>السعر، المكونات، الاستخدام والملاءمة.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E085E-0BE6-420A-AA99-9FFA39E4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095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8A52"/>
                </a:solidFill>
              </a:defRPr>
            </a:pPr>
            <a:r>
              <a:rPr sz="1050" b="1">
                <a:solidFill>
                  <a:srgbClr val="B58A52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5C4EDA-1395-44FC-B594-3B1E6E8C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457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263128"/>
                </a:solidFill>
              </a:defRPr>
            </a:pPr>
            <a:r>
              <a:rPr sz="1725" b="1">
                <a:solidFill>
                  <a:srgbClr val="263128"/>
                </a:solidFill>
              </a:rPr>
              <a:t>استشارة يدوية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128223-86F5-4259-AC03-0560008E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956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D756C"/>
                </a:solidFill>
              </a:defRPr>
            </a:pPr>
            <a:r>
              <a:rPr sz="1275" b="0">
                <a:solidFill>
                  <a:srgbClr val="6D756C"/>
                </a:solidFill>
              </a:rPr>
              <a:t>كل حالة تبدأ من الصفر تقريبًا.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7A08B8-1DBB-4EE9-BC42-ACF78605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8A52"/>
                </a:solidFill>
              </a:defRPr>
            </a:pPr>
            <a:r>
              <a:rPr sz="1050" b="1">
                <a:solidFill>
                  <a:srgbClr val="B58A52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F35980-707C-467E-B088-309E2783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574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263128"/>
                </a:solidFill>
              </a:defRPr>
            </a:pPr>
            <a:r>
              <a:rPr sz="1725" b="1">
                <a:solidFill>
                  <a:srgbClr val="263128"/>
                </a:solidFill>
              </a:rPr>
              <a:t>وقت مستهلك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79FCB6-961A-4869-BF53-6799D606F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956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D756C"/>
                </a:solidFill>
              </a:defRPr>
            </a:pPr>
            <a:r>
              <a:rPr sz="1275" b="0">
                <a:solidFill>
                  <a:srgbClr val="6D756C"/>
                </a:solidFill>
              </a:rPr>
              <a:t>المتابعة تزداد مع كل عميلة جديدة.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F2FE5A-3D8C-4C23-B329-DA6767AB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8A52"/>
                </a:solidFill>
              </a:defRPr>
            </a:pPr>
            <a:r>
              <a:rPr sz="1050" b="1">
                <a:solidFill>
                  <a:srgbClr val="B58A52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C49FA5-7F8E-465D-9AA8-61F4B0BA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263128"/>
                </a:solidFill>
              </a:defRPr>
            </a:pPr>
            <a:r>
              <a:rPr sz="1725" b="1">
                <a:solidFill>
                  <a:srgbClr val="263128"/>
                </a:solidFill>
              </a:rPr>
              <a:t>قابلية توسع محدودة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B823E7-1D9A-417E-B8A6-8B637A470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D756C"/>
                </a:solidFill>
              </a:defRPr>
            </a:pPr>
            <a:r>
              <a:rPr sz="1275" b="0">
                <a:solidFill>
                  <a:srgbClr val="6D756C"/>
                </a:solidFill>
              </a:rPr>
              <a:t>الجودة تعتمد على وقت شخص واحد.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472869-3587-4AE1-A65E-C7403872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9052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8A52"/>
                </a:solidFill>
              </a:defRPr>
            </a:pPr>
            <a:r>
              <a:rPr sz="1050" b="1">
                <a:solidFill>
                  <a:srgbClr val="B58A52"/>
                </a:solidFill>
              </a:rPr>
              <a:t>05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833E2A-6339-4EB4-93B5-953E8484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2672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263128"/>
                </a:solidFill>
              </a:defRPr>
            </a:pPr>
            <a:r>
              <a:rPr sz="1725" b="1">
                <a:solidFill>
                  <a:srgbClr val="263128"/>
                </a:solidFill>
              </a:rPr>
              <a:t>متابعة غير منظمة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3E0308-8D3F-4C62-9F29-3BDA46FC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7053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D756C"/>
                </a:solidFill>
              </a:defRPr>
            </a:pPr>
            <a:r>
              <a:rPr sz="1275" b="0">
                <a:solidFill>
                  <a:srgbClr val="6D756C"/>
                </a:solidFill>
              </a:rPr>
              <a:t>السياق موزع بين محادثات متعددة.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3638BD-33D6-4E9F-A47F-2B053488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052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8A52"/>
                </a:solidFill>
              </a:defRPr>
            </a:pPr>
            <a:r>
              <a:rPr sz="1050" b="1">
                <a:solidFill>
                  <a:srgbClr val="B58A52"/>
                </a:solidFill>
              </a:rPr>
              <a:t>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3352D6-2458-4980-A70E-79C8FE02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672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263128"/>
                </a:solidFill>
              </a:defRPr>
            </a:pPr>
            <a:r>
              <a:rPr sz="1725" b="1">
                <a:solidFill>
                  <a:srgbClr val="263128"/>
                </a:solidFill>
              </a:rPr>
              <a:t>معلومات غير مهيكلة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4FE680-4462-470E-B1BB-0C88C60E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0535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D756C"/>
                </a:solidFill>
              </a:defRPr>
            </a:pPr>
            <a:r>
              <a:rPr sz="1275" b="0">
                <a:solidFill>
                  <a:srgbClr val="6D756C"/>
                </a:solidFill>
              </a:rPr>
              <a:t>يصعب مقارنة المنتجات بثقة.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DDF218-C6DF-42CE-9A09-A5B11049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756C"/>
                </a:solidFill>
              </a:defRPr>
            </a:pPr>
            <a:r>
              <a:rPr sz="750" b="1">
                <a:solidFill>
                  <a:srgbClr val="6D756C"/>
                </a:solidFill>
              </a:rPr>
              <a:t>KIKA OIL  •  CLIENT PROPOSAL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E163C9-62E8-41FD-89DA-C089670F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D756C"/>
                </a:solidFill>
              </a:defRPr>
            </a:pPr>
            <a:r>
              <a:rPr sz="750" b="1">
                <a:solidFill>
                  <a:srgbClr val="6D756C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495853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EB4FC3-C585-4EAF-A048-5AF96DA5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58A52"/>
                </a:solidFill>
              </a:defRPr>
            </a:pPr>
            <a:r>
              <a:rPr sz="1125" b="1">
                <a:solidFill>
                  <a:srgbClr val="B58A52"/>
                </a:solidFill>
              </a:rPr>
              <a:t>الحل المقترح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841A28-D6F9-46B8-9A47-126E52E18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263128"/>
                </a:solidFill>
              </a:defRPr>
            </a:pPr>
            <a:r>
              <a:rPr sz="3000" b="1">
                <a:solidFill>
                  <a:srgbClr val="263128"/>
                </a:solidFill>
              </a:rPr>
              <a:t>منصة واحدة تجمع الاكتشاف، التوجيه، والخدمة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29A18-5125-4872-B67C-4B183DF4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81250"/>
            <a:ext cx="41910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596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AF160-F236-425F-8A8D-AAC2372A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2890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تجربة زيت كيكا الرقمية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674785-65F1-417C-9F1B-23A3511C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242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7F2E9"/>
                </a:solidFill>
              </a:defRPr>
            </a:pPr>
            <a:r>
              <a:rPr sz="1275" b="0">
                <a:solidFill>
                  <a:srgbClr val="F7F2E9"/>
                </a:solidFill>
              </a:rPr>
              <a:t>معلومة واضحة • رحلة منظمة • ثقة أكبر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A7C403-0BA8-4EAD-A5D9-735F6F59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6479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B441FD-8D6D-4829-81D1-4D1D5D5D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1932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128"/>
                </a:solidFill>
              </a:defRPr>
            </a:pPr>
            <a:r>
              <a:rPr sz="1500" b="1">
                <a:solidFill>
                  <a:srgbClr val="263128"/>
                </a:solidFill>
              </a:rPr>
              <a:t>الموقع والكتالوج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6DD864-C771-45CE-8F96-8DB0C4DA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81275"/>
            <a:ext cx="2305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58A52"/>
                </a:solidFill>
              </a:defRPr>
            </a:pPr>
            <a:r>
              <a:rPr sz="975" b="1">
                <a:solidFill>
                  <a:srgbClr val="B58A52"/>
                </a:solidFill>
              </a:rPr>
              <a:t>منجز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0BE7E3-9D53-4D11-AFFC-EC8180C9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6479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F338A7-7254-4D7E-8443-022FE3AA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128"/>
                </a:solidFill>
              </a:defRPr>
            </a:pPr>
            <a:r>
              <a:rPr sz="1500" b="1">
                <a:solidFill>
                  <a:srgbClr val="263128"/>
                </a:solidFill>
              </a:rPr>
              <a:t>معلومات المنتجات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7DA956-AEF2-4AF3-86E5-79C6771E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00575"/>
            <a:ext cx="2305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58A52"/>
                </a:solidFill>
              </a:defRPr>
            </a:pPr>
            <a:r>
              <a:rPr sz="975" b="1">
                <a:solidFill>
                  <a:srgbClr val="B58A52"/>
                </a:solidFill>
              </a:rPr>
              <a:t>منجز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13190F-5AC8-4BD3-84F4-904DDB2B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26479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8DCD8D-98CA-4C39-9F4D-13AA3195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5737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128"/>
                </a:solidFill>
              </a:defRPr>
            </a:pPr>
            <a:r>
              <a:rPr sz="1500" b="1">
                <a:solidFill>
                  <a:srgbClr val="263128"/>
                </a:solidFill>
              </a:rPr>
              <a:t>تقييم البشرة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2D40A7-0B88-48A5-89FF-9D72A50E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19325"/>
            <a:ext cx="2305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58A52"/>
                </a:solidFill>
              </a:defRPr>
            </a:pPr>
            <a:r>
              <a:rPr sz="975" b="1">
                <a:solidFill>
                  <a:srgbClr val="B58A52"/>
                </a:solidFill>
              </a:rPr>
              <a:t>مخطط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A7671B-ADDE-4E3B-A5BD-B6D46406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05125"/>
            <a:ext cx="26479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EF5589-BFA0-4BA5-90E3-B4CC84BD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48000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128"/>
                </a:solidFill>
              </a:defRPr>
            </a:pPr>
            <a:r>
              <a:rPr sz="1500" b="1">
                <a:solidFill>
                  <a:srgbClr val="263128"/>
                </a:solidFill>
              </a:rPr>
              <a:t>مساعد ذكي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5E8627-51DB-49C9-BEAB-7A2A375C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409950"/>
            <a:ext cx="2305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58A52"/>
                </a:solidFill>
              </a:defRPr>
            </a:pPr>
            <a:r>
              <a:rPr sz="975" b="1">
                <a:solidFill>
                  <a:srgbClr val="B58A52"/>
                </a:solidFill>
              </a:rPr>
              <a:t>مرحلة مستقبلية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C1B9DE-7114-4B28-BBB1-CFC0B904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26479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68D62A-A196-4875-8164-12F68E4E3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3862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128"/>
                </a:solidFill>
              </a:defRPr>
            </a:pPr>
            <a:r>
              <a:rPr sz="1500" b="1">
                <a:solidFill>
                  <a:srgbClr val="263128"/>
                </a:solidFill>
              </a:rPr>
              <a:t>استشارة مختص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5586C7-AF6C-4306-8D5D-5A138A38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00575"/>
            <a:ext cx="2305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58A52"/>
                </a:solidFill>
              </a:defRPr>
            </a:pPr>
            <a:r>
              <a:rPr sz="975" b="1">
                <a:solidFill>
                  <a:srgbClr val="B58A52"/>
                </a:solidFill>
              </a:rPr>
              <a:t>مرحلة مستقبلية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BAA464-43AE-4680-B37F-CE78D246E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62500"/>
            <a:ext cx="26479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16BFB4-E95B-4323-9F6A-9016C89A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05375"/>
            <a:ext cx="2305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128"/>
                </a:solidFill>
              </a:defRPr>
            </a:pPr>
            <a:r>
              <a:rPr sz="1500" b="1">
                <a:solidFill>
                  <a:srgbClr val="263128"/>
                </a:solidFill>
              </a:rPr>
              <a:t>لوحات التحكم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AF8B7D-BB81-4B7C-8C51-EC56BE478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267325"/>
            <a:ext cx="2305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58A52"/>
                </a:solidFill>
              </a:defRPr>
            </a:pPr>
            <a:r>
              <a:rPr sz="975" b="1">
                <a:solidFill>
                  <a:srgbClr val="B58A52"/>
                </a:solidFill>
              </a:rPr>
              <a:t>مرحلة مستقبلية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C6C221-6EE8-4861-BD22-64AA5538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756C"/>
                </a:solidFill>
              </a:defRPr>
            </a:pPr>
            <a:r>
              <a:rPr sz="750" b="1">
                <a:solidFill>
                  <a:srgbClr val="6D756C"/>
                </a:solidFill>
              </a:rPr>
              <a:t>KIKA OIL  •  CLIENT PROPOSAL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550763-CE89-49C1-8DD2-880F10A0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D756C"/>
                </a:solidFill>
              </a:defRPr>
            </a:pPr>
            <a:r>
              <a:rPr sz="750" b="1">
                <a:solidFill>
                  <a:srgbClr val="6D756C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94676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631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A6CB3-98DD-46D9-B568-43E7DA79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D8C5AA"/>
                </a:solidFill>
              </a:defRPr>
            </a:pPr>
            <a:r>
              <a:rPr sz="1125" b="1">
                <a:solidFill>
                  <a:srgbClr val="D8C5AA"/>
                </a:solidFill>
              </a:rPr>
              <a:t>التجربة المنجزة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C8010-023F-4DA6-898F-E38918D7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واجهة فاخرة تشرح العلامة قبل أن تطلب من العميلة الشراء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983e19b21a4dcd"/>
          <a:srcRect xmlns:a="http://schemas.openxmlformats.org/drawingml/2006/main" l="0" t="17156" r="0" b="171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52625"/>
            <a:ext cx="10820400" cy="400050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166C4-4B41-426B-9F8E-89E2BC16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756C"/>
                </a:solidFill>
              </a:defRPr>
            </a:pPr>
            <a:r>
              <a:rPr sz="750" b="1">
                <a:solidFill>
                  <a:srgbClr val="6D756C"/>
                </a:solidFill>
              </a:rPr>
              <a:t>KIKA OIL  •  CLIENT PROPOSAL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7F9764-1D35-42CD-8A5F-A378F81C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D756C"/>
                </a:solidFill>
              </a:defRPr>
            </a:pPr>
            <a:r>
              <a:rPr sz="750" b="1">
                <a:solidFill>
                  <a:srgbClr val="6D756C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617780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CACC24-6075-4334-AF84-D26A4EBE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58A52"/>
                </a:solidFill>
              </a:defRPr>
            </a:pPr>
            <a:r>
              <a:rPr sz="1125" b="1">
                <a:solidFill>
                  <a:srgbClr val="B58A52"/>
                </a:solidFill>
              </a:rPr>
              <a:t>الكتالوج الرقمي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36D6BC-A5F0-452A-B8C8-66D06AF8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263128"/>
                </a:solidFill>
              </a:defRPr>
            </a:pPr>
            <a:r>
              <a:rPr sz="3000" b="1">
                <a:solidFill>
                  <a:srgbClr val="263128"/>
                </a:solidFill>
              </a:rPr>
              <a:t>المنتجات أصبحت قابلة للفهم والمقارنة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b6d11056114a46"/>
          <a:srcRect xmlns:a="http://schemas.openxmlformats.org/drawingml/2006/main" l="0" t="31" r="0" b="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76450"/>
            <a:ext cx="6858000" cy="3857625"/>
          </a:xfrm>
          <a:prstGeom xmlns:a="http://schemas.openxmlformats.org/drawingml/2006/main" prst="roundRect">
            <a:avLst>
              <a:gd name="adj" fmla="val 3951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85134-EF99-4349-B5D0-DB8423E3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9075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58A52"/>
                </a:solidFill>
              </a:defRPr>
            </a:pPr>
            <a:r>
              <a:rPr sz="1350" b="1">
                <a:solidFill>
                  <a:srgbClr val="B58A52"/>
                </a:solidFill>
              </a:rPr>
              <a:t>ما هو متاح الآن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C4407F-E554-440C-AAA2-D5AC9CF1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67000"/>
            <a:ext cx="3524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0">
                <a:solidFill>
                  <a:srgbClr val="263128"/>
                </a:solidFill>
              </a:defRPr>
            </a:pPr>
            <a:r>
              <a:rPr sz="1650" b="0">
                <a:solidFill>
                  <a:srgbClr val="263128"/>
                </a:solidFill>
              </a:rPr>
              <a:t>• تصفح منظم</a:t>
            </a:r>
          </a:p>
          <a:p xmlns:a="http://schemas.openxmlformats.org/drawingml/2006/main">
            <a:pPr algn="r">
              <a:defRPr sz="1650" b="0">
                <a:solidFill>
                  <a:srgbClr val="263128"/>
                </a:solidFill>
              </a:defRPr>
            </a:pPr>
            <a:r>
              <a:rPr sz="1650" b="0">
                <a:solidFill>
                  <a:srgbClr val="263128"/>
                </a:solidFill>
              </a:rPr>
              <a:t>• بحث وفلاتر وفرز</a:t>
            </a:r>
          </a:p>
          <a:p xmlns:a="http://schemas.openxmlformats.org/drawingml/2006/main">
            <a:pPr algn="r">
              <a:defRPr sz="1650" b="0">
                <a:solidFill>
                  <a:srgbClr val="263128"/>
                </a:solidFill>
              </a:defRPr>
            </a:pPr>
            <a:r>
              <a:rPr sz="1650" b="0">
                <a:solidFill>
                  <a:srgbClr val="263128"/>
                </a:solidFill>
              </a:rPr>
              <a:t>• بطاقات منتجات متناسقة</a:t>
            </a:r>
          </a:p>
          <a:p xmlns:a="http://schemas.openxmlformats.org/drawingml/2006/main">
            <a:pPr algn="r">
              <a:defRPr sz="1650" b="0">
                <a:solidFill>
                  <a:srgbClr val="263128"/>
                </a:solidFill>
              </a:defRPr>
            </a:pPr>
            <a:r>
              <a:rPr sz="1650" b="0">
                <a:solidFill>
                  <a:srgbClr val="263128"/>
                </a:solidFill>
              </a:rPr>
              <a:t>• معلومات استخدام وتوافق</a:t>
            </a:r>
          </a:p>
          <a:p xmlns:a="http://schemas.openxmlformats.org/drawingml/2006/main">
            <a:pPr algn="r">
              <a:defRPr sz="1650" b="0">
                <a:solidFill>
                  <a:srgbClr val="263128"/>
                </a:solidFill>
              </a:defRPr>
            </a:pPr>
            <a:r>
              <a:rPr sz="1650" b="0">
                <a:solidFill>
                  <a:srgbClr val="263128"/>
                </a:solidFill>
              </a:rPr>
              <a:t>• تصميم عربي متجاوب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D2D570-7805-4FB2-993C-B427277CD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143500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D756C"/>
                </a:solidFill>
              </a:defRPr>
            </a:pPr>
            <a:r>
              <a:rPr sz="1200" b="0">
                <a:solidFill>
                  <a:srgbClr val="6D756C"/>
                </a:solidFill>
              </a:rPr>
              <a:t>الأسعار والمكونات والصور النهائية تحتاج اعتمادًا قبل البيع.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43381-2249-478E-983C-BC7D6C6D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756C"/>
                </a:solidFill>
              </a:defRPr>
            </a:pPr>
            <a:r>
              <a:rPr sz="750" b="1">
                <a:solidFill>
                  <a:srgbClr val="6D756C"/>
                </a:solidFill>
              </a:rPr>
              <a:t>KIKA OIL  •  CLIENT PROPOSAL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C70D9-510C-4EF8-90CB-B42538AE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D756C"/>
                </a:solidFill>
              </a:defRPr>
            </a:pPr>
            <a:r>
              <a:rPr sz="750" b="1">
                <a:solidFill>
                  <a:srgbClr val="6D756C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689207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4DCC50-9C4E-460A-90DF-E2FCDA11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58A52"/>
                </a:solidFill>
              </a:defRPr>
            </a:pPr>
            <a:r>
              <a:rPr sz="1125" b="1">
                <a:solidFill>
                  <a:srgbClr val="B58A52"/>
                </a:solidFill>
              </a:rPr>
              <a:t>القيمة المتوقعة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4D9539-FB67-4D73-AE60-FFC36C0C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263128"/>
                </a:solidFill>
              </a:defRPr>
            </a:pPr>
            <a:r>
              <a:rPr sz="3000" b="1">
                <a:solidFill>
                  <a:srgbClr val="263128"/>
                </a:solidFill>
              </a:rPr>
              <a:t>فائدة مباشرة اليوم، وأساس قوي للنمو غدًا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BBFC1A-121E-4A16-90AD-596666C3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596B55"/>
                </a:solidFill>
              </a:defRPr>
            </a:pPr>
            <a:r>
              <a:rPr sz="1875" b="1">
                <a:solidFill>
                  <a:srgbClr val="596B55"/>
                </a:solidFill>
              </a:rPr>
              <a:t>لمالكة المشروع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F5952A-16E5-4968-908E-5D4DFD91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B58A52"/>
                </a:solidFill>
              </a:defRPr>
            </a:pPr>
            <a:r>
              <a:rPr sz="1650" b="1">
                <a:solidFill>
                  <a:srgbClr val="B58A52"/>
                </a:solidFill>
              </a:rPr>
              <a:t>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124C8-BBA2-4DF6-A8D3-06B1D64C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263128"/>
                </a:solidFill>
              </a:defRPr>
            </a:pPr>
            <a:r>
              <a:rPr sz="1575" b="0">
                <a:solidFill>
                  <a:srgbClr val="263128"/>
                </a:solidFill>
              </a:rPr>
              <a:t>• تقليل تكرار الشرح</a:t>
            </a:r>
          </a:p>
          <a:p xmlns:a="http://schemas.openxmlformats.org/drawingml/2006/main">
            <a:pPr algn="r">
              <a:defRPr sz="1575" b="0">
                <a:solidFill>
                  <a:srgbClr val="263128"/>
                </a:solidFill>
              </a:defRPr>
            </a:pPr>
            <a:r>
              <a:rPr sz="1575" b="0">
                <a:solidFill>
                  <a:srgbClr val="263128"/>
                </a:solidFill>
              </a:rPr>
              <a:t>• صورة أكثر احترافية</a:t>
            </a:r>
          </a:p>
          <a:p xmlns:a="http://schemas.openxmlformats.org/drawingml/2006/main">
            <a:pPr algn="r">
              <a:defRPr sz="1575" b="0">
                <a:solidFill>
                  <a:srgbClr val="263128"/>
                </a:solidFill>
              </a:defRPr>
            </a:pPr>
            <a:r>
              <a:rPr sz="1575" b="0">
                <a:solidFill>
                  <a:srgbClr val="263128"/>
                </a:solidFill>
              </a:rPr>
              <a:t>• ترتيب المعرفة والمنتجات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2EDCC-72FC-4EBF-804F-52DCEB46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1907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596B55"/>
                </a:solidFill>
              </a:defRPr>
            </a:pPr>
            <a:r>
              <a:rPr sz="1875" b="1">
                <a:solidFill>
                  <a:srgbClr val="596B55"/>
                </a:solidFill>
              </a:rPr>
              <a:t>للعميلة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3A8EAF-17D8-4A27-AA75-3CAC047C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7432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B58A52"/>
                </a:solidFill>
              </a:defRPr>
            </a:pPr>
            <a:r>
              <a:rPr sz="1650" b="1">
                <a:solidFill>
                  <a:srgbClr val="B58A52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129CD9-F5AE-4513-8F29-67D61575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1432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263128"/>
                </a:solidFill>
              </a:defRPr>
            </a:pPr>
            <a:r>
              <a:rPr sz="1575" b="0">
                <a:solidFill>
                  <a:srgbClr val="263128"/>
                </a:solidFill>
              </a:rPr>
              <a:t>• إجابات أوضح</a:t>
            </a:r>
          </a:p>
          <a:p xmlns:a="http://schemas.openxmlformats.org/drawingml/2006/main">
            <a:pPr algn="r">
              <a:defRPr sz="1575" b="0">
                <a:solidFill>
                  <a:srgbClr val="263128"/>
                </a:solidFill>
              </a:defRPr>
            </a:pPr>
            <a:r>
              <a:rPr sz="1575" b="0">
                <a:solidFill>
                  <a:srgbClr val="263128"/>
                </a:solidFill>
              </a:rPr>
              <a:t>• اختيار أكثر ثقة</a:t>
            </a:r>
          </a:p>
          <a:p xmlns:a="http://schemas.openxmlformats.org/drawingml/2006/main">
            <a:pPr algn="r">
              <a:defRPr sz="1575" b="0">
                <a:solidFill>
                  <a:srgbClr val="263128"/>
                </a:solidFill>
              </a:defRPr>
            </a:pPr>
            <a:r>
              <a:rPr sz="1575" b="0">
                <a:solidFill>
                  <a:srgbClr val="263128"/>
                </a:solidFill>
              </a:rPr>
              <a:t>• تجربة عربية هادئة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53F385-E443-4252-B654-A666CB5C4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596B55"/>
                </a:solidFill>
              </a:defRPr>
            </a:pPr>
            <a:r>
              <a:rPr sz="1875" b="1">
                <a:solidFill>
                  <a:srgbClr val="596B55"/>
                </a:solidFill>
              </a:rPr>
              <a:t>للنمو المستقبلي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0CBA6D-6CC6-4472-AF96-4DAEFA12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432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B58A52"/>
                </a:solidFill>
              </a:defRPr>
            </a:pPr>
            <a:r>
              <a:rPr sz="1650" b="1">
                <a:solidFill>
                  <a:srgbClr val="B58A52"/>
                </a:solidFill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608731-8C1F-40DE-B606-930A43CA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263128"/>
                </a:solidFill>
              </a:defRPr>
            </a:pPr>
            <a:r>
              <a:rPr sz="1575" b="0">
                <a:solidFill>
                  <a:srgbClr val="263128"/>
                </a:solidFill>
              </a:rPr>
              <a:t>• رحلات قابلة للقياس</a:t>
            </a:r>
          </a:p>
          <a:p xmlns:a="http://schemas.openxmlformats.org/drawingml/2006/main">
            <a:pPr algn="r">
              <a:defRPr sz="1575" b="0">
                <a:solidFill>
                  <a:srgbClr val="263128"/>
                </a:solidFill>
              </a:defRPr>
            </a:pPr>
            <a:r>
              <a:rPr sz="1575" b="0">
                <a:solidFill>
                  <a:srgbClr val="263128"/>
                </a:solidFill>
              </a:rPr>
              <a:t>• ربط الطلب والمتابعة</a:t>
            </a:r>
          </a:p>
          <a:p xmlns:a="http://schemas.openxmlformats.org/drawingml/2006/main">
            <a:pPr algn="r">
              <a:defRPr sz="1575" b="0">
                <a:solidFill>
                  <a:srgbClr val="263128"/>
                </a:solidFill>
              </a:defRPr>
            </a:pPr>
            <a:r>
              <a:rPr sz="1575" b="0">
                <a:solidFill>
                  <a:srgbClr val="263128"/>
                </a:solidFill>
              </a:rPr>
              <a:t>• إضافة الذكاء والاستشارة تدريجيًا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ED7D76-C4C2-4740-970E-842CE8BC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91125"/>
            <a:ext cx="108204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7F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BB2DD-DE04-4295-87BA-904E2DD9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128"/>
                </a:solidFill>
              </a:defRPr>
            </a:pPr>
            <a:r>
              <a:rPr sz="1500" b="1">
                <a:solidFill>
                  <a:srgbClr val="263128"/>
                </a:solidFill>
              </a:rPr>
              <a:t>المنصة تستثمر في وضوح التجربة أولًا؛ ثم تضيف الأتمتة عندما تعتمد قواعد العمل والمحتوى.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229BAF-DAA6-46AD-97A8-E83BA8BB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756C"/>
                </a:solidFill>
              </a:defRPr>
            </a:pPr>
            <a:r>
              <a:rPr sz="750" b="1">
                <a:solidFill>
                  <a:srgbClr val="6D756C"/>
                </a:solidFill>
              </a:rPr>
              <a:t>KIKA OIL  •  CLIENT PROPOSAL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5EB606-99DF-4749-A1DE-29E0CEB5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D756C"/>
                </a:solidFill>
              </a:defRPr>
            </a:pPr>
            <a:r>
              <a:rPr sz="750" b="1">
                <a:solidFill>
                  <a:srgbClr val="6D756C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535549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025D00-9D82-44CD-9A6E-64008008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58A52"/>
                </a:solidFill>
              </a:defRPr>
            </a:pPr>
            <a:r>
              <a:rPr sz="1125" b="1">
                <a:solidFill>
                  <a:srgbClr val="B58A52"/>
                </a:solidFill>
              </a:rPr>
              <a:t>رحلة العميل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66FB97-88B9-46C1-A03C-D22F9EB9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263128"/>
                </a:solidFill>
              </a:defRPr>
            </a:pPr>
            <a:r>
              <a:rPr sz="3000" b="1">
                <a:solidFill>
                  <a:srgbClr val="263128"/>
                </a:solidFill>
              </a:rPr>
              <a:t>مسار بسيط اليوم… يتطور دون أن يتغير جوهره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923E28-B91D-4108-B224-0434C47D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2954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596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D871D-FB9A-46F0-9FAA-3610DD63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527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8C5AA"/>
                </a:solidFill>
              </a:defRPr>
            </a:pPr>
            <a:r>
              <a:rPr sz="975" b="1">
                <a:solidFill>
                  <a:srgbClr val="D8C5AA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20B58-0EDC-4ABE-9F84-EB7D3EAF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زيارة الموقع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A043B-F45D-406A-AACB-CCB7585C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71462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58A52"/>
                </a:solidFill>
              </a:defRPr>
            </a:pPr>
            <a:r>
              <a:rPr sz="1650" b="1">
                <a:solidFill>
                  <a:srgbClr val="B58A52"/>
                </a:solidFill>
              </a:rPr>
              <a:t>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9E6291-3D70-4E9B-95C8-1DB794DA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428875"/>
            <a:ext cx="12954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596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EEF84-D8D3-44C3-8174-DE46ECB7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5527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8C5AA"/>
                </a:solidFill>
              </a:defRPr>
            </a:pPr>
            <a:r>
              <a:rPr sz="975" b="1">
                <a:solidFill>
                  <a:srgbClr val="D8C5AA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70650-50C3-4EFA-8A3A-FC5FF902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57500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تصفح المنتجات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BB6E7F-FF09-40F4-BEE5-A276E92E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1462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58A52"/>
                </a:solidFill>
              </a:defRPr>
            </a:pPr>
            <a:r>
              <a:rPr sz="1650" b="1">
                <a:solidFill>
                  <a:srgbClr val="B58A52"/>
                </a:solidFill>
              </a:rPr>
              <a:t>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A5E576-C087-4A06-8022-3836DC70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28875"/>
            <a:ext cx="12954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596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7D45CB-03D7-44A9-A2FD-8FF544F0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527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8C5AA"/>
                </a:solidFill>
              </a:defRPr>
            </a:pPr>
            <a:r>
              <a:rPr sz="975" b="1">
                <a:solidFill>
                  <a:srgbClr val="D8C5AA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7C76F3-CAD4-458D-AE1A-686094A3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857500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قراءة المعلومات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999367-423D-4D44-86DA-6ACDA656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1462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58A52"/>
                </a:solidFill>
              </a:defRPr>
            </a:pPr>
            <a:r>
              <a:rPr sz="1650" b="1">
                <a:solidFill>
                  <a:srgbClr val="B58A52"/>
                </a:solidFill>
              </a:rPr>
              <a:t>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553E68-81E5-4DC5-BD27-BEA956BB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28875"/>
            <a:ext cx="12954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7F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D61FB0-5696-4C7A-9113-6E30A4A1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5527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58A52"/>
                </a:solidFill>
              </a:defRPr>
            </a:pPr>
            <a:r>
              <a:rPr sz="975" b="1">
                <a:solidFill>
                  <a:srgbClr val="B58A52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FA1759-7EEE-4C3D-893F-AF88374B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857500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3128"/>
                </a:solidFill>
              </a:defRPr>
            </a:pPr>
            <a:r>
              <a:rPr sz="1200" b="1">
                <a:solidFill>
                  <a:srgbClr val="263128"/>
                </a:solidFill>
              </a:rPr>
              <a:t>تقييم البشرة مستقبلًا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05A469-C941-4812-AD2A-F6848474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1462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58A52"/>
                </a:solidFill>
              </a:defRPr>
            </a:pPr>
            <a:r>
              <a:rPr sz="1650" b="1">
                <a:solidFill>
                  <a:srgbClr val="B58A52"/>
                </a:solidFill>
              </a:rPr>
              <a:t>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80BB9C-8D0D-4684-BA62-9F9E6279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28875"/>
            <a:ext cx="12954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7F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DB5FBA-E4A6-4D61-975A-547B3CCF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527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58A52"/>
                </a:solidFill>
              </a:defRPr>
            </a:pPr>
            <a:r>
              <a:rPr sz="975" b="1">
                <a:solidFill>
                  <a:srgbClr val="B58A52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48D6A7-732C-4BFD-8781-0980EF73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3128"/>
                </a:solidFill>
              </a:defRPr>
            </a:pPr>
            <a:r>
              <a:rPr sz="1200" b="1">
                <a:solidFill>
                  <a:srgbClr val="263128"/>
                </a:solidFill>
              </a:rPr>
              <a:t>توصية مستقبلية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6F5F71-4DC6-4CD3-8218-559BF956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1462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58A52"/>
                </a:solidFill>
              </a:defRPr>
            </a:pPr>
            <a:r>
              <a:rPr sz="1650" b="1">
                <a:solidFill>
                  <a:srgbClr val="B58A52"/>
                </a:solidFill>
              </a:rPr>
              <a:t>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930BEF-1993-414F-8D37-2FA545505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28875"/>
            <a:ext cx="12954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7F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D8A023-446C-4A9C-A205-E3933E5E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527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58A52"/>
                </a:solidFill>
              </a:defRPr>
            </a:pPr>
            <a:r>
              <a:rPr sz="975" b="1">
                <a:solidFill>
                  <a:srgbClr val="B58A52"/>
                </a:solidFill>
              </a:rPr>
              <a:t>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784518-F7EB-4746-96B8-F81D65298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57500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3128"/>
                </a:solidFill>
              </a:defRPr>
            </a:pPr>
            <a:r>
              <a:rPr sz="1200" b="1">
                <a:solidFill>
                  <a:srgbClr val="263128"/>
                </a:solidFill>
              </a:rPr>
              <a:t>الشراء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DD292D-5CFF-452C-ADAA-0E037E3A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1462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58A52"/>
                </a:solidFill>
              </a:defRPr>
            </a:pPr>
            <a:r>
              <a:rPr sz="1650" b="1">
                <a:solidFill>
                  <a:srgbClr val="B58A52"/>
                </a:solidFill>
              </a:rPr>
              <a:t>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CCFEEC-82AA-4A6E-A5C9-CB44BBC7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428875"/>
            <a:ext cx="12954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7F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065E50-9B82-4ACB-B218-51E14B2F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5527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58A52"/>
                </a:solidFill>
              </a:defRPr>
            </a:pPr>
            <a:r>
              <a:rPr sz="975" b="1">
                <a:solidFill>
                  <a:srgbClr val="B58A52"/>
                </a:solidFill>
              </a:rPr>
              <a:t>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350DC7-B92B-40F9-AEF4-8A6097844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857500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63128"/>
                </a:solidFill>
              </a:defRPr>
            </a:pPr>
            <a:r>
              <a:rPr sz="1200" b="1">
                <a:solidFill>
                  <a:srgbClr val="263128"/>
                </a:solidFill>
              </a:rPr>
              <a:t>متابعة مستقبلية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FA9B9E-1C96-4DC9-8921-968266E2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36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96B55"/>
                </a:solidFill>
              </a:defRPr>
            </a:pPr>
            <a:r>
              <a:rPr sz="1125" b="1">
                <a:solidFill>
                  <a:srgbClr val="596B55"/>
                </a:solidFill>
              </a:rPr>
              <a:t>المرحلة الحالية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A14BFE2-5EE7-4959-A62E-12B9D0F5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052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58A52"/>
                </a:solidFill>
              </a:defRPr>
            </a:pPr>
            <a:r>
              <a:rPr sz="1125" b="1">
                <a:solidFill>
                  <a:srgbClr val="B58A52"/>
                </a:solidFill>
              </a:rPr>
              <a:t>مراحل مستقبلية بعد الاعتماد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775789-29CA-4A71-9E37-61F68113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756C"/>
                </a:solidFill>
              </a:defRPr>
            </a:pPr>
            <a:r>
              <a:rPr sz="750" b="1">
                <a:solidFill>
                  <a:srgbClr val="6D756C"/>
                </a:solidFill>
              </a:rPr>
              <a:t>KIKA OIL  •  CLIENT PROPOSAL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22FD43-6FBB-4629-AD4D-007C4C2C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D756C"/>
                </a:solidFill>
              </a:defRPr>
            </a:pPr>
            <a:r>
              <a:rPr sz="750" b="1">
                <a:solidFill>
                  <a:srgbClr val="6D756C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361531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B96813-6674-4FEC-9C7A-928355C3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58A52"/>
                </a:solidFill>
              </a:defRPr>
            </a:pPr>
            <a:r>
              <a:rPr sz="1125" b="1">
                <a:solidFill>
                  <a:srgbClr val="B58A52"/>
                </a:solidFill>
              </a:rPr>
              <a:t>خارطة الطريق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C4EAE-3D21-4F9A-8F82-28AAD3BD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263128"/>
                </a:solidFill>
              </a:defRPr>
            </a:pPr>
            <a:r>
              <a:rPr sz="3000" b="1">
                <a:solidFill>
                  <a:srgbClr val="263128"/>
                </a:solidFill>
              </a:rPr>
              <a:t>ثماني مراحل تحول الرؤية إلى تشغيل تجاري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06328D-4F96-4CF9-BE0F-764D9300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381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96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B9E8D-5A55-4841-A1DC-B17B77A7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8C5AA"/>
                </a:solidFill>
              </a:defRPr>
            </a:pPr>
            <a:r>
              <a:rPr sz="975" b="1">
                <a:solidFill>
                  <a:srgbClr val="D8C5AA"/>
                </a:solidFill>
              </a:rPr>
              <a:t>المرحلة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472BE1-A549-4EC2-B1D3-E59C10DB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0982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الأساس والهيكل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A8C8E-D5A3-45E2-9274-4AE52E58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مكتمل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4E10FA-3C43-4847-AEB9-6F5D7644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00250"/>
            <a:ext cx="2381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596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779D48-3064-4974-9F63-5A1F5548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145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8C5AA"/>
                </a:solidFill>
              </a:defRPr>
            </a:pPr>
            <a:r>
              <a:rPr sz="975" b="1">
                <a:solidFill>
                  <a:srgbClr val="D8C5AA"/>
                </a:solidFill>
              </a:rPr>
              <a:t>المرحلة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4F60ED-043A-4B00-ABB5-67E9E91E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0982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الهوية والمتجر العام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A198B-F21B-4602-8B84-553CA8FF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575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مكتمل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A65A2D-EC3B-406B-843B-B5242331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2381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8C5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5487DF-28B2-4389-B05E-E78C1E11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145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58A52"/>
                </a:solidFill>
              </a:defRPr>
            </a:pPr>
            <a:r>
              <a:rPr sz="975" b="1">
                <a:solidFill>
                  <a:srgbClr val="B58A52"/>
                </a:solidFill>
              </a:rPr>
              <a:t>المرحلة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2E62B5-58A3-4EDC-A713-82C67B5D1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982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63128"/>
                </a:solidFill>
              </a:defRPr>
            </a:pPr>
            <a:r>
              <a:rPr sz="1425" b="1">
                <a:solidFill>
                  <a:srgbClr val="263128"/>
                </a:solidFill>
              </a:rPr>
              <a:t>الكتالوج والمنتجات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026A65-326A-4A23-A8F0-39B6706F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D756C"/>
                </a:solidFill>
              </a:defRPr>
            </a:pPr>
            <a:r>
              <a:rPr sz="975" b="1">
                <a:solidFill>
                  <a:srgbClr val="6D756C"/>
                </a:solidFill>
              </a:rPr>
              <a:t>قيد التقدم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530C83-236C-4FF5-B70C-59D31A816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381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BF3D05-D117-41E2-8224-87EC41DFA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11455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58A52"/>
                </a:solidFill>
              </a:defRPr>
            </a:pPr>
            <a:r>
              <a:rPr sz="975" b="1">
                <a:solidFill>
                  <a:srgbClr val="B58A52"/>
                </a:solidFill>
              </a:rPr>
              <a:t>المرحلة 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390642-295A-4D93-856E-2C74F37C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0982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63128"/>
                </a:solidFill>
              </a:defRPr>
            </a:pPr>
            <a:r>
              <a:rPr sz="1425" b="1">
                <a:solidFill>
                  <a:srgbClr val="263128"/>
                </a:solidFill>
              </a:rPr>
              <a:t>التقييم الموجّه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E74FAB-72AD-4F9D-9281-05928D52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85750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D756C"/>
                </a:solidFill>
              </a:defRPr>
            </a:pPr>
            <a:r>
              <a:rPr sz="975" b="1">
                <a:solidFill>
                  <a:srgbClr val="6D756C"/>
                </a:solidFill>
              </a:rPr>
              <a:t>مستقبل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D07D71-FF20-4C09-8152-1AD3327D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381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693288-9232-4A77-867A-E1395575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58A52"/>
                </a:solidFill>
              </a:defRPr>
            </a:pPr>
            <a:r>
              <a:rPr sz="975" b="1">
                <a:solidFill>
                  <a:srgbClr val="B58A52"/>
                </a:solidFill>
              </a:rPr>
              <a:t>المرحلة 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8DC211-4E02-476D-8F4C-E5C2A6C4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957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63128"/>
                </a:solidFill>
              </a:defRPr>
            </a:pPr>
            <a:r>
              <a:rPr sz="1425" b="1">
                <a:solidFill>
                  <a:srgbClr val="263128"/>
                </a:solidFill>
              </a:rPr>
              <a:t>المساعد الذكي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A4CAAA-CC8F-440A-83B5-B78C82E9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D756C"/>
                </a:solidFill>
              </a:defRPr>
            </a:pPr>
            <a:r>
              <a:rPr sz="975" b="1">
                <a:solidFill>
                  <a:srgbClr val="6D756C"/>
                </a:solidFill>
              </a:rPr>
              <a:t>مستقبل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71C4D5-0A9B-4301-91FA-4B2509506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10000"/>
            <a:ext cx="2381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5203FB-BCB6-434B-8096-BEA8A5AB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58A52"/>
                </a:solidFill>
              </a:defRPr>
            </a:pPr>
            <a:r>
              <a:rPr sz="975" b="1">
                <a:solidFill>
                  <a:srgbClr val="B58A52"/>
                </a:solidFill>
              </a:rPr>
              <a:t>المرحلة 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2CF7BF-EB94-4253-8B7C-7C94164C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21957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63128"/>
                </a:solidFill>
              </a:defRPr>
            </a:pPr>
            <a:r>
              <a:rPr sz="1425" b="1">
                <a:solidFill>
                  <a:srgbClr val="263128"/>
                </a:solidFill>
              </a:rPr>
              <a:t>الاستشارة البشرية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C5717D-04B9-4E4A-9204-B2EBF971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6672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D756C"/>
                </a:solidFill>
              </a:defRPr>
            </a:pPr>
            <a:r>
              <a:rPr sz="975" b="1">
                <a:solidFill>
                  <a:srgbClr val="6D756C"/>
                </a:solidFill>
              </a:rPr>
              <a:t>مستقبل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5E1D92-837F-4C0B-B041-D5E2A83D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2381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CBD064-142E-4070-94B6-F72D6910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58A52"/>
                </a:solidFill>
              </a:defRPr>
            </a:pPr>
            <a:r>
              <a:rPr sz="975" b="1">
                <a:solidFill>
                  <a:srgbClr val="B58A52"/>
                </a:solidFill>
              </a:rPr>
              <a:t>المرحلة 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40F8AD-B336-499B-9562-9B0EA9D5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1957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63128"/>
                </a:solidFill>
              </a:defRPr>
            </a:pPr>
            <a:r>
              <a:rPr sz="1425" b="1">
                <a:solidFill>
                  <a:srgbClr val="263128"/>
                </a:solidFill>
              </a:rPr>
              <a:t>الطلب والحسابات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046CC9-E823-424C-908A-3EA82EC5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672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D756C"/>
                </a:solidFill>
              </a:defRPr>
            </a:pPr>
            <a:r>
              <a:rPr sz="975" b="1">
                <a:solidFill>
                  <a:srgbClr val="6D756C"/>
                </a:solidFill>
              </a:rPr>
              <a:t>مستقبل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D9CBC9-A15A-483B-8D13-DE9561FCF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10000"/>
            <a:ext cx="2381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7F2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E5C77FF-FF88-499B-B7E8-834A7C89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24300"/>
            <a:ext cx="2038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B58A52"/>
                </a:solidFill>
              </a:defRPr>
            </a:pPr>
            <a:r>
              <a:rPr sz="975" b="1">
                <a:solidFill>
                  <a:srgbClr val="B58A52"/>
                </a:solidFill>
              </a:rPr>
              <a:t>المرحلة 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159F7D-6132-43FB-8AED-72DE4C511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219575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63128"/>
                </a:solidFill>
              </a:defRPr>
            </a:pPr>
            <a:r>
              <a:rPr sz="1425" b="1">
                <a:solidFill>
                  <a:srgbClr val="263128"/>
                </a:solidFill>
              </a:rPr>
              <a:t>الإدارة والإطلاق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F95847-0D71-4B2F-A93B-8A18A277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667250"/>
            <a:ext cx="2038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D756C"/>
                </a:solidFill>
              </a:defRPr>
            </a:pPr>
            <a:r>
              <a:rPr sz="975" b="1">
                <a:solidFill>
                  <a:srgbClr val="6D756C"/>
                </a:solidFill>
              </a:rPr>
              <a:t>مستقبل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E5F47A-291D-4476-9A1E-7AEA3315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756C"/>
                </a:solidFill>
              </a:defRPr>
            </a:pPr>
            <a:r>
              <a:rPr sz="750" b="1">
                <a:solidFill>
                  <a:srgbClr val="6D756C"/>
                </a:solidFill>
              </a:rPr>
              <a:t>KIKA OIL  •  CLIENT PROPOSAL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454CAD-F5A0-4E99-9B41-1F64C91D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D756C"/>
                </a:solidFill>
              </a:defRPr>
            </a:pPr>
            <a:r>
              <a:rPr sz="750" b="1">
                <a:solidFill>
                  <a:srgbClr val="6D756C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542111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B4AFAC-0088-4FA1-870B-06BC81EF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58A52"/>
                </a:solidFill>
              </a:defRPr>
            </a:pPr>
            <a:r>
              <a:rPr sz="1125" b="1">
                <a:solidFill>
                  <a:srgbClr val="B58A52"/>
                </a:solidFill>
              </a:rPr>
              <a:t>البنية التقنية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F59D60-B262-4028-967C-AD5E31BB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263128"/>
                </a:solidFill>
              </a:defRPr>
            </a:pPr>
            <a:r>
              <a:rPr sz="3000" b="1">
                <a:solidFill>
                  <a:srgbClr val="263128"/>
                </a:solidFill>
              </a:rPr>
              <a:t>أساس حديث يوازن بين السرعة، الأمان، وقابلية التوسع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02A5B-4792-4578-B82E-B943CC17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96B55"/>
                </a:solidFill>
              </a:defRPr>
            </a:pPr>
            <a:r>
              <a:rPr sz="1575" b="1">
                <a:solidFill>
                  <a:srgbClr val="596B55"/>
                </a:solidFill>
              </a:rPr>
              <a:t>Next.js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91453A-50D7-4844-A786-7BB82775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002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D756C"/>
                </a:solidFill>
              </a:defRPr>
            </a:pPr>
            <a:r>
              <a:rPr sz="1275" b="1">
                <a:solidFill>
                  <a:srgbClr val="6D756C"/>
                </a:solidFill>
              </a:rPr>
              <a:t>تجربة ويب سريعة ومحسنة لمحركات البحث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7E6F0-72A1-466E-81BA-4B514927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96B55"/>
                </a:solidFill>
              </a:defRPr>
            </a:pPr>
            <a:r>
              <a:rPr sz="1575" b="1">
                <a:solidFill>
                  <a:srgbClr val="596B55"/>
                </a:solidFill>
              </a:rPr>
              <a:t>React + TypeScript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7B778A-6893-4017-AF51-C50192A4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D756C"/>
                </a:solidFill>
              </a:defRPr>
            </a:pPr>
            <a:r>
              <a:rPr sz="1275" b="1">
                <a:solidFill>
                  <a:srgbClr val="6D756C"/>
                </a:solidFill>
              </a:rPr>
              <a:t>واجهة موثوقة وقابلة للصيانة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EE04F5-9D8D-4C15-BE3D-9A3F2107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96B55"/>
                </a:solidFill>
              </a:defRPr>
            </a:pPr>
            <a:r>
              <a:rPr sz="1575" b="1">
                <a:solidFill>
                  <a:srgbClr val="596B55"/>
                </a:solidFill>
              </a:rPr>
              <a:t>PostgreSQL + Prisma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9944E3-1DBE-47A5-950F-B8E9614C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194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D756C"/>
                </a:solidFill>
              </a:defRPr>
            </a:pPr>
            <a:r>
              <a:rPr sz="1275" b="1">
                <a:solidFill>
                  <a:srgbClr val="6D756C"/>
                </a:solidFill>
              </a:rPr>
              <a:t>طبقة بيانات منظمة للمراحل التشغيلية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F59868-B3D0-43F7-A298-CAE7B698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194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96B55"/>
                </a:solidFill>
              </a:defRPr>
            </a:pPr>
            <a:r>
              <a:rPr sz="1575" b="1">
                <a:solidFill>
                  <a:srgbClr val="596B55"/>
                </a:solidFill>
              </a:rPr>
              <a:t>Responsive 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793FA4-0E5D-40DF-A66C-E5D7894C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194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D756C"/>
                </a:solidFill>
              </a:defRPr>
            </a:pPr>
            <a:r>
              <a:rPr sz="1275" b="1">
                <a:solidFill>
                  <a:srgbClr val="6D756C"/>
                </a:solidFill>
              </a:rPr>
              <a:t>تجربة متناسقة على الهاتف وسطح المكتب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B8DECC-6E51-4230-A437-97AE73D1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96B55"/>
                </a:solidFill>
              </a:defRPr>
            </a:pPr>
            <a:r>
              <a:rPr sz="1575" b="1">
                <a:solidFill>
                  <a:srgbClr val="596B55"/>
                </a:solidFill>
              </a:rPr>
              <a:t>SEO Foundation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4BA828-3B14-4AE7-AF9B-D5C4B144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386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D756C"/>
                </a:solidFill>
              </a:defRPr>
            </a:pPr>
            <a:r>
              <a:rPr sz="1275" b="1">
                <a:solidFill>
                  <a:srgbClr val="6D756C"/>
                </a:solidFill>
              </a:rPr>
              <a:t>عناوين وخرائط موقع وبيانات منظمة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15715D-24A8-47EA-8DBB-2D80E5924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386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96B55"/>
                </a:solidFill>
              </a:defRPr>
            </a:pPr>
            <a:r>
              <a:rPr sz="1575" b="1">
                <a:solidFill>
                  <a:srgbClr val="596B55"/>
                </a:solidFill>
              </a:rPr>
              <a:t>Production Build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5C4869-A30E-450B-BC64-09D888BE5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386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6D756C"/>
                </a:solidFill>
              </a:defRPr>
            </a:pPr>
            <a:r>
              <a:rPr sz="1275" b="1">
                <a:solidFill>
                  <a:srgbClr val="6D756C"/>
                </a:solidFill>
              </a:rPr>
              <a:t>بناء إنتاجي واختبارات جودة آلية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C8999A-C0CB-4306-A0B0-BB0CC1E6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63128"/>
                </a:solidFill>
              </a:defRPr>
            </a:pPr>
            <a:r>
              <a:rPr sz="1500" b="1">
                <a:solidFill>
                  <a:srgbClr val="263128"/>
                </a:solidFill>
              </a:rPr>
              <a:t>اختيار التقنية يخدم استمرارية المشروع؛ وليس هدفًا تسويقيًا بحد ذاته.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41053C-BA45-4C6A-9F94-5AC30CD8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756C"/>
                </a:solidFill>
              </a:defRPr>
            </a:pPr>
            <a:r>
              <a:rPr sz="750" b="1">
                <a:solidFill>
                  <a:srgbClr val="6D756C"/>
                </a:solidFill>
              </a:rPr>
              <a:t>KIKA OIL  •  CLIENT PROPOSAL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3BDF4F-6C97-4027-AF97-DF5ECADB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D756C"/>
                </a:solidFill>
              </a:defRPr>
            </a:pPr>
            <a:r>
              <a:rPr sz="750" b="1">
                <a:solidFill>
                  <a:srgbClr val="6D756C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80260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2631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6BA1BD-9DF5-4CBE-8615-ED7BEC524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D8C5AA"/>
                </a:solidFill>
              </a:defRPr>
            </a:pPr>
            <a:r>
              <a:rPr sz="1125" b="1">
                <a:solidFill>
                  <a:srgbClr val="D8C5AA"/>
                </a:solidFill>
              </a:rPr>
              <a:t>رؤية المنصة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9FC49E-05C1-4896-99A2-13D4F91D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الموقع يشرح قيمته للعميلة ولصاحبة القرار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782cbe4b74e09"/>
          <a:srcRect xmlns:a="http://schemas.openxmlformats.org/drawingml/2006/main" l="0" t="16374" r="0" b="163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57375"/>
            <a:ext cx="10820400" cy="4095750"/>
          </a:xfrm>
          <a:prstGeom xmlns:a="http://schemas.openxmlformats.org/drawingml/2006/main" prst="roundRect">
            <a:avLst>
              <a:gd name="adj" fmla="val 3721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E0A4D-8F8D-43D7-B8C2-C757A75F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756C"/>
                </a:solidFill>
              </a:defRPr>
            </a:pPr>
            <a:r>
              <a:rPr sz="750" b="1">
                <a:solidFill>
                  <a:srgbClr val="6D756C"/>
                </a:solidFill>
              </a:rPr>
              <a:t>KIKA OIL  •  CLIENT PROPOSAL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028D1-3353-408F-B589-0EF4AEF9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D756C"/>
                </a:solidFill>
              </a:defRPr>
            </a:pPr>
            <a:r>
              <a:rPr sz="750" b="1">
                <a:solidFill>
                  <a:srgbClr val="6D756C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616293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EC5A9A-BF3A-439A-BABE-2B071E26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B58A52"/>
                </a:solidFill>
              </a:defRPr>
            </a:pPr>
            <a:r>
              <a:rPr sz="1125" b="1">
                <a:solidFill>
                  <a:srgbClr val="B58A52"/>
                </a:solidFill>
              </a:rPr>
              <a:t>ما يحتاج اعتمادًا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9DFC8-51ED-4FDF-A96C-A2689F9D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263128"/>
                </a:solidFill>
              </a:defRPr>
            </a:pPr>
            <a:r>
              <a:rPr sz="3000" b="1">
                <a:solidFill>
                  <a:srgbClr val="263128"/>
                </a:solidFill>
              </a:rPr>
              <a:t>ثمانية قرارات تحول النموذج إلى نسخة تجارية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AF728-B5B8-4EF6-ACB9-6A064225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49530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36595-0518-49D8-B264-C82F0AB5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1455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58A52"/>
                </a:solidFill>
              </a:defRPr>
            </a:pPr>
            <a:r>
              <a:rPr sz="1800" b="1">
                <a:solidFill>
                  <a:srgbClr val="B58A52"/>
                </a:solidFill>
              </a:rPr>
              <a:t>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AD1071-8D56-4457-BEA4-D5F4DB21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4787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63128"/>
                </a:solidFill>
              </a:defRPr>
            </a:pPr>
            <a:r>
              <a:rPr sz="1425" b="1">
                <a:solidFill>
                  <a:srgbClr val="263128"/>
                </a:solidFill>
              </a:rPr>
              <a:t>الشعار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2899F4-57B0-4590-9D4A-57E5A9AB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478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D756C"/>
                </a:solidFill>
              </a:defRPr>
            </a:pPr>
            <a:r>
              <a:rPr sz="1125" b="0">
                <a:solidFill>
                  <a:srgbClr val="6D756C"/>
                </a:solidFill>
              </a:rPr>
              <a:t>النسخة النهائية والاستخدامات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116F1-4A17-4311-AABA-8454095F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49530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8C928-1516-40D6-897D-F4D2D345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1455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58A52"/>
                </a:solidFill>
              </a:defRPr>
            </a:pPr>
            <a:r>
              <a:rPr sz="1800" b="1">
                <a:solidFill>
                  <a:srgbClr val="B58A52"/>
                </a:solidFill>
              </a:rPr>
              <a:t>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F47B90-80F6-4282-A18C-87F8BDAD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04787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63128"/>
                </a:solidFill>
              </a:defRPr>
            </a:pPr>
            <a:r>
              <a:rPr sz="1425" b="1">
                <a:solidFill>
                  <a:srgbClr val="263128"/>
                </a:solidFill>
              </a:rPr>
              <a:t>ألوان العلامة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76B132-EC89-4097-9CB8-8F7472B4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4787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D756C"/>
                </a:solidFill>
              </a:defRPr>
            </a:pPr>
            <a:r>
              <a:rPr sz="1125" b="0">
                <a:solidFill>
                  <a:srgbClr val="6D756C"/>
                </a:solidFill>
              </a:rPr>
              <a:t>القيم الرسمية ودليل الهوية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1A8603-7806-4C44-ADCE-EB9662AC1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49530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8257B8-CB79-4384-B027-CBC3CA6E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58A52"/>
                </a:solidFill>
              </a:defRPr>
            </a:pPr>
            <a:r>
              <a:rPr sz="1800" b="1">
                <a:solidFill>
                  <a:srgbClr val="B58A52"/>
                </a:solidFill>
              </a:rPr>
              <a:t>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BA09A6-3E7F-49E4-86EB-F5D0C22D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289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63128"/>
                </a:solidFill>
              </a:defRPr>
            </a:pPr>
            <a:r>
              <a:rPr sz="1425" b="1">
                <a:solidFill>
                  <a:srgbClr val="263128"/>
                </a:solidFill>
              </a:rPr>
              <a:t>صور المنتجات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B27B4C-5ABD-43F5-A26F-DB2BE3AB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289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D756C"/>
                </a:solidFill>
              </a:defRPr>
            </a:pPr>
            <a:r>
              <a:rPr sz="1125" b="0">
                <a:solidFill>
                  <a:srgbClr val="6D756C"/>
                </a:solidFill>
              </a:rPr>
              <a:t>تصوير كل منتج وتغليفه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09A63E-8937-4AD2-908F-52695D31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33700"/>
            <a:ext cx="49530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0EF266-832A-4866-A996-7F545D6C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9562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58A52"/>
                </a:solidFill>
              </a:defRPr>
            </a:pPr>
            <a:r>
              <a:rPr sz="1800" b="1">
                <a:solidFill>
                  <a:srgbClr val="B58A52"/>
                </a:solidFill>
              </a:rPr>
              <a:t>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CBCAD3-2242-4026-8EDC-2A719D62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2895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63128"/>
                </a:solidFill>
              </a:defRPr>
            </a:pPr>
            <a:r>
              <a:rPr sz="1425" b="1">
                <a:solidFill>
                  <a:srgbClr val="263128"/>
                </a:solidFill>
              </a:rPr>
              <a:t>المكونات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8F0CA5-EC13-4D6C-A70D-3FDC99AB5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2895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D756C"/>
                </a:solidFill>
              </a:defRPr>
            </a:pPr>
            <a:r>
              <a:rPr sz="1125" b="0">
                <a:solidFill>
                  <a:srgbClr val="6D756C"/>
                </a:solidFill>
              </a:rPr>
              <a:t>القوائم والتحذيرات المعتمدة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2CFC30-CE8F-41CD-905D-053294E2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49530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D23E52-719E-4878-BCF9-CCE0ACF7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58A52"/>
                </a:solidFill>
              </a:defRPr>
            </a:pPr>
            <a:r>
              <a:rPr sz="1800" b="1">
                <a:solidFill>
                  <a:srgbClr val="B58A52"/>
                </a:solidFill>
              </a:rPr>
              <a:t>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9EA0C0-6113-434F-A208-6917F4FC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1002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63128"/>
                </a:solidFill>
              </a:defRPr>
            </a:pPr>
            <a:r>
              <a:rPr sz="1425" b="1">
                <a:solidFill>
                  <a:srgbClr val="263128"/>
                </a:solidFill>
              </a:rPr>
              <a:t>الأسعار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95061F-6E8C-4274-BEAC-649A56AD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100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D756C"/>
                </a:solidFill>
              </a:defRPr>
            </a:pPr>
            <a:r>
              <a:rPr sz="1125" b="0">
                <a:solidFill>
                  <a:srgbClr val="6D756C"/>
                </a:solidFill>
              </a:rPr>
              <a:t>العملة والأحجام والعروض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1BF963-877E-41E4-8802-81D83AA1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14775"/>
            <a:ext cx="49530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BAB436-FED1-42E3-9755-44D787CA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76700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58A52"/>
                </a:solidFill>
              </a:defRPr>
            </a:pPr>
            <a:r>
              <a:rPr sz="1800" b="1">
                <a:solidFill>
                  <a:srgbClr val="B58A52"/>
                </a:solidFill>
              </a:rPr>
              <a:t>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25D916-D44D-41A4-AB62-07CC4199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10025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63128"/>
                </a:solidFill>
              </a:defRPr>
            </a:pPr>
            <a:r>
              <a:rPr sz="1425" b="1">
                <a:solidFill>
                  <a:srgbClr val="263128"/>
                </a:solidFill>
              </a:rPr>
              <a:t>السياسات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C7ED7B-5451-4916-AF11-8D671949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10025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D756C"/>
                </a:solidFill>
              </a:defRPr>
            </a:pPr>
            <a:r>
              <a:rPr sz="1125" b="0">
                <a:solidFill>
                  <a:srgbClr val="6D756C"/>
                </a:solidFill>
              </a:rPr>
              <a:t>الخصوصية والشروط والاسترجاع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541D8B-8DA2-473F-BD51-E7BF06B1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49530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F046F8-5146-4296-BD8B-4962C083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5777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58A52"/>
                </a:solidFill>
              </a:defRPr>
            </a:pPr>
            <a:r>
              <a:rPr sz="1800" b="1">
                <a:solidFill>
                  <a:srgbClr val="B58A52"/>
                </a:solidFill>
              </a:rPr>
              <a:t>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951FC7-F260-4E80-8826-A14C4C20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911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63128"/>
                </a:solidFill>
              </a:defRPr>
            </a:pPr>
            <a:r>
              <a:rPr sz="1425" b="1">
                <a:solidFill>
                  <a:srgbClr val="263128"/>
                </a:solidFill>
              </a:rPr>
              <a:t>الدفع والشحن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81C489-9ED3-4460-A662-175C1F15B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991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D756C"/>
                </a:solidFill>
              </a:defRPr>
            </a:pPr>
            <a:r>
              <a:rPr sz="1125" b="0">
                <a:solidFill>
                  <a:srgbClr val="6D756C"/>
                </a:solidFill>
              </a:rPr>
              <a:t>المزودون والتغطية والتكلفة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0FAC81-8D21-44E0-BEA5-CAAC25EC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95850"/>
            <a:ext cx="495300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73A1BD-0E66-4C3C-9242-9974AE9A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57775"/>
            <a:ext cx="33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58A52"/>
                </a:solidFill>
              </a:defRPr>
            </a:pPr>
            <a:r>
              <a:rPr sz="1800" b="1">
                <a:solidFill>
                  <a:srgbClr val="B58A52"/>
                </a:solidFill>
              </a:rPr>
              <a:t>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11FAE6-A8EE-4EC7-ADEE-4FFA094B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991100"/>
            <a:ext cx="166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1">
                <a:solidFill>
                  <a:srgbClr val="263128"/>
                </a:solidFill>
              </a:defRPr>
            </a:pPr>
            <a:r>
              <a:rPr sz="1425" b="1">
                <a:solidFill>
                  <a:srgbClr val="263128"/>
                </a:solidFill>
              </a:rPr>
              <a:t>المختصون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7DDABB-8B9F-433B-8833-3EE8997C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991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6D756C"/>
                </a:solidFill>
              </a:defRPr>
            </a:pPr>
            <a:r>
              <a:rPr sz="1125" b="0">
                <a:solidFill>
                  <a:srgbClr val="6D756C"/>
                </a:solidFill>
              </a:rPr>
              <a:t>الأدوار والمواعيد وحدود الخدمة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8C54FD-7FE9-4F89-9CEC-BBB5AC2F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D756C"/>
                </a:solidFill>
              </a:defRPr>
            </a:pPr>
            <a:r>
              <a:rPr sz="750" b="1">
                <a:solidFill>
                  <a:srgbClr val="6D756C"/>
                </a:solidFill>
              </a:rPr>
              <a:t>KIKA OIL  •  CLIENT PROPOSAL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6C1F92-8DBB-4AB0-A759-3EC38FC0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77000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D756C"/>
                </a:solidFill>
              </a:defRPr>
            </a:pPr>
            <a:r>
              <a:rPr sz="750" b="1">
                <a:solidFill>
                  <a:srgbClr val="6D756C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35919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2631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FCA6E4-1AAE-4A54-87E4-11B08ED6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D8C5AA"/>
                </a:solidFill>
              </a:defRPr>
            </a:pPr>
            <a:r>
              <a:rPr sz="1125" b="1">
                <a:solidFill>
                  <a:srgbClr val="D8C5AA"/>
                </a:solidFill>
              </a:rPr>
              <a:t>الخطوة التالية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98397-AF6F-4992-9881-FDC172B3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23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الرؤية أصبحت قابلة للرؤية،</a:t>
            </a:r>
          </a:p>
          <a:p xmlns:a="http://schemas.openxmlformats.org/drawingml/2006/main">
            <a:pPr algn="r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والقرار التالي هو اعتمادها.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80D641-AFEA-4A5F-ABD1-F1EDA79F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0">
                <a:solidFill>
                  <a:srgbClr val="D8C5AA"/>
                </a:solidFill>
              </a:defRPr>
            </a:pPr>
            <a:r>
              <a:rPr sz="1725" b="0">
                <a:solidFill>
                  <a:srgbClr val="D8C5AA"/>
                </a:solidFill>
              </a:rPr>
              <a:t>هذا النموذج يوضح تجربة منصة زيت كيكا واتجاهها التجاري. بعد اعتماد الهوية والمنتجات والسياسات وآلية التشغيل، تبدأ مراحل التحويل إلى نسخة تجارية مكتملة.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4C907-264F-40E9-8E27-977CC9FE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49530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596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4CA39A-410E-445D-9DF7-B3299F81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4419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اعتماد نطاق المرحلة التالية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D8BEDC-4387-4097-8FAA-1F8589C40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90550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AAB5A1"/>
                </a:solidFill>
              </a:defRPr>
            </a:pPr>
            <a:r>
              <a:rPr sz="1050" b="1">
                <a:solidFill>
                  <a:srgbClr val="AAB5A1"/>
                </a:solidFill>
              </a:rPr>
              <a:t>KIKA OIL PLATFORM</a:t>
            </a:r>
          </a:p>
        </p:txBody>
      </p:sp>
    </p:spTree>
    <p:extLst>
      <p:ext uri="{BB962C8B-B14F-4D97-AF65-F5344CB8AC3E}">
        <p14:creationId xmlns:p14="http://schemas.microsoft.com/office/powerpoint/2010/main" val="13793950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2026-07-16T08:34:04.0210000Z</dcterms:created>
  <dcterms:modified xsi:type="dcterms:W3CDTF">2026-07-16T08:34:04.0210000Z</dcterms:modified>
</coreProperties>
</file>